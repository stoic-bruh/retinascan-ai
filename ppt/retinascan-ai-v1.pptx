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8" r:id="rId2"/>
    <p:sldId id="299" r:id="rId3"/>
    <p:sldId id="300" r:id="rId4"/>
    <p:sldId id="301" r:id="rId5"/>
    <p:sldId id="302" r:id="rId6"/>
    <p:sldId id="303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883F"/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127" autoAdjust="0"/>
  </p:normalViewPr>
  <p:slideViewPr>
    <p:cSldViewPr snapToGrid="0" snapToObjects="1">
      <p:cViewPr varScale="1">
        <p:scale>
          <a:sx n="53" d="100"/>
          <a:sy n="53" d="100"/>
        </p:scale>
        <p:origin x="730" y="5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89349-9240-AE2E-FFE4-8745F255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393E3A-C963-AE80-A1F2-D900BD235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8A630C-09E3-5601-4CBA-EA00BCBF94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95E5DF-CCBA-2E7C-BCDC-258820705B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790738-CFC9-4A5E-8424-6B42AA5706F7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4127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F5AA6-6621-A702-B34F-BD2456C40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13A300-E02B-AE78-FC67-E23A4E8D3F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B8E5CA-5948-E622-6F0B-925F0255C9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9B962D-FCB1-D4CB-AD9B-59A0EBA0A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790738-CFC9-4A5E-8424-6B42AA5706F7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2192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3F32E-8178-418D-D488-57F8B07A8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AAA6CD-B13D-227D-0DF6-728A213857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7D3AFF-3E0A-1BA3-B754-22B1F2CBE8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70235D-98C1-919E-ED61-024F34C754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790738-CFC9-4A5E-8424-6B42AA5706F7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2407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30DBE-27CF-01DE-7DDF-D33A2C2FC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CBE7AC-5E84-AB4B-DEEA-255EA52733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AFE559-79B5-2DF6-6D94-9CE680AC33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B128F3-0AAB-B2B7-8BF2-6DF9F2EBD9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790738-CFC9-4A5E-8424-6B42AA5706F7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9275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D6D46-4EF9-CA81-1831-93DCA1F7C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D2C19E-022A-CCC4-7D9E-D8E72727B5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D64DCA-8C1A-D71A-64E9-CFB195FBE3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B3B123-A3D1-E3DF-E111-ACB84BFA33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790738-CFC9-4A5E-8424-6B42AA5706F7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3463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1213E-8E3B-58B4-26B7-2DEBD93D1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B039EB-F563-9EC8-BB0D-D70F77956B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5BEB63-91EE-65C0-3D46-9915D3FC0C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C8070-DE7D-F194-F077-F76BBB6389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790738-CFC9-4A5E-8424-6B42AA5706F7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96136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svg"/><Relationship Id="rId5" Type="http://schemas.openxmlformats.org/officeDocument/2006/relationships/image" Target="../media/image6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7.svg"/><Relationship Id="rId5" Type="http://schemas.openxmlformats.org/officeDocument/2006/relationships/image" Target="../media/image8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0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1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417-354E-3E0D-809C-B2740EA84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EC45C71-C5BE-FF48-F76A-647377EBC92A}"/>
              </a:ext>
            </a:extLst>
          </p:cNvPr>
          <p:cNvSpPr/>
          <p:nvPr/>
        </p:nvSpPr>
        <p:spPr>
          <a:xfrm>
            <a:off x="205169" y="104037"/>
            <a:ext cx="6846704" cy="891778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5000"/>
                  <a:lumOff val="95000"/>
                </a:schemeClr>
              </a:gs>
              <a:gs pos="74000">
                <a:schemeClr val="accent5">
                  <a:lumMod val="45000"/>
                  <a:lumOff val="55000"/>
                </a:schemeClr>
              </a:gs>
              <a:gs pos="83000">
                <a:schemeClr val="accent5">
                  <a:lumMod val="45000"/>
                  <a:lumOff val="55000"/>
                </a:schemeClr>
              </a:gs>
              <a:gs pos="100000">
                <a:schemeClr val="accent5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73F4EAC-C982-DD59-5C5F-B1FC8A471B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20165" y="-60468"/>
            <a:ext cx="9448799" cy="1220789"/>
          </a:xfrm>
        </p:spPr>
        <p:txBody>
          <a:bodyPr/>
          <a:lstStyle/>
          <a:p>
            <a:r>
              <a:rPr lang="en-US" sz="3200" b="1">
                <a:latin typeface="Garamond" panose="02020404030301010803" pitchFamily="18" charset="0"/>
              </a:rPr>
              <a:t>SMART INDIA HACKATHON 2025</a:t>
            </a:r>
            <a:endParaRPr lang="en-IN" sz="3200" b="1">
              <a:latin typeface="Garamond" panose="02020404030301010803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6E780F-72B6-DF66-5F39-81367347770E}"/>
              </a:ext>
            </a:extLst>
          </p:cNvPr>
          <p:cNvSpPr txBox="1"/>
          <p:nvPr/>
        </p:nvSpPr>
        <p:spPr>
          <a:xfrm>
            <a:off x="91099" y="1297672"/>
            <a:ext cx="530671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b="1"/>
              <a:t>Problem Statement ID –</a:t>
            </a:r>
            <a:r>
              <a:rPr lang="en-IN"/>
              <a:t> </a:t>
            </a:r>
            <a:r>
              <a:rPr lang="en-IN" err="1"/>
              <a:t>SIH26038</a:t>
            </a:r>
            <a:endParaRPr lang="en-IN"/>
          </a:p>
          <a:p>
            <a:pPr lvl="0"/>
            <a:endParaRPr lang="en-IN"/>
          </a:p>
          <a:p>
            <a:pPr lvl="0"/>
            <a:r>
              <a:rPr lang="en-IN" b="1"/>
              <a:t>Problem Statement Title </a:t>
            </a:r>
            <a:r>
              <a:rPr lang="en-IN" sz="1400" b="1"/>
              <a:t>–</a:t>
            </a:r>
            <a:r>
              <a:rPr lang="en-IN" sz="1400"/>
              <a:t> </a:t>
            </a:r>
            <a:r>
              <a:rPr lang="en-IN"/>
              <a:t>Explainable AI for Diabetic</a:t>
            </a:r>
          </a:p>
          <a:p>
            <a:pPr lvl="0"/>
            <a:r>
              <a:rPr lang="en-IN"/>
              <a:t>Retinopathy Screening in Rural India</a:t>
            </a:r>
          </a:p>
          <a:p>
            <a:pPr lvl="0"/>
            <a:endParaRPr lang="en-IN"/>
          </a:p>
          <a:p>
            <a:pPr lvl="0"/>
            <a:r>
              <a:rPr lang="en-IN" b="1"/>
              <a:t>Theme</a:t>
            </a:r>
            <a:r>
              <a:rPr lang="en-IN" sz="1400" b="1"/>
              <a:t> –</a:t>
            </a:r>
            <a:r>
              <a:rPr lang="en-IN" sz="1400"/>
              <a:t> </a:t>
            </a:r>
            <a:r>
              <a:rPr lang="en-IN"/>
              <a:t>MedTech / </a:t>
            </a:r>
            <a:r>
              <a:rPr lang="en-IN" err="1"/>
              <a:t>BioTech</a:t>
            </a:r>
            <a:r>
              <a:rPr lang="en-IN"/>
              <a:t> / HealthTech</a:t>
            </a:r>
          </a:p>
          <a:p>
            <a:pPr lvl="0"/>
            <a:r>
              <a:rPr lang="en-IN" b="1"/>
              <a:t>PS Category </a:t>
            </a:r>
            <a:r>
              <a:rPr lang="en-IN" sz="1400" b="1"/>
              <a:t>–</a:t>
            </a:r>
            <a:r>
              <a:rPr lang="en-IN" sz="1400"/>
              <a:t> </a:t>
            </a:r>
            <a:r>
              <a:rPr lang="en-IN"/>
              <a:t>Software</a:t>
            </a:r>
          </a:p>
          <a:p>
            <a:pPr lvl="0"/>
            <a:endParaRPr lang="en-IN"/>
          </a:p>
          <a:p>
            <a:pPr lvl="0"/>
            <a:r>
              <a:rPr lang="en-IN" b="1"/>
              <a:t>Team ID </a:t>
            </a:r>
            <a:r>
              <a:rPr lang="en-IN" sz="1400" b="1"/>
              <a:t>–</a:t>
            </a:r>
            <a:r>
              <a:rPr lang="en-IN" sz="1400"/>
              <a:t> </a:t>
            </a:r>
            <a:r>
              <a:rPr lang="en-IN" sz="1600"/>
              <a:t>110084</a:t>
            </a:r>
          </a:p>
          <a:p>
            <a:pPr lvl="0"/>
            <a:endParaRPr lang="en-IN"/>
          </a:p>
          <a:p>
            <a:pPr lvl="0"/>
            <a:r>
              <a:rPr lang="en-IN" b="1"/>
              <a:t>Team Name </a:t>
            </a:r>
            <a:r>
              <a:rPr lang="en-IN" sz="1400" b="1"/>
              <a:t>–</a:t>
            </a:r>
            <a:r>
              <a:rPr lang="en-IN" sz="1400"/>
              <a:t> </a:t>
            </a:r>
            <a:r>
              <a:rPr lang="en-IN"/>
              <a:t>Beta Alanine</a:t>
            </a:r>
            <a:endParaRPr lang="en-IN" sz="140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BA98833-165B-BF48-35DF-E32D1C114DA5}"/>
              </a:ext>
            </a:extLst>
          </p:cNvPr>
          <p:cNvSpPr/>
          <p:nvPr/>
        </p:nvSpPr>
        <p:spPr>
          <a:xfrm rot="19221000">
            <a:off x="6053062" y="1224230"/>
            <a:ext cx="8683439" cy="6378699"/>
          </a:xfrm>
          <a:custGeom>
            <a:avLst/>
            <a:gdLst>
              <a:gd name="csX0" fmla="*/ 7348838 w 8683439"/>
              <a:gd name="csY0" fmla="*/ 0 h 6378699"/>
              <a:gd name="csX1" fmla="*/ 8683439 w 8683439"/>
              <a:gd name="csY1" fmla="*/ 1106042 h 6378699"/>
              <a:gd name="csX2" fmla="*/ 4313762 w 8683439"/>
              <a:gd name="csY2" fmla="*/ 6378699 h 6378699"/>
              <a:gd name="csX3" fmla="*/ 0 w 8683439"/>
              <a:gd name="csY3" fmla="*/ 2803700 h 6378699"/>
              <a:gd name="csX4" fmla="*/ 0 w 8683439"/>
              <a:gd name="csY4" fmla="*/ 1068128 h 6378699"/>
              <a:gd name="csX5" fmla="*/ 1068128 w 8683439"/>
              <a:gd name="csY5" fmla="*/ 0 h 6378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8683439" h="6378699">
                <a:moveTo>
                  <a:pt x="7348838" y="0"/>
                </a:moveTo>
                <a:lnTo>
                  <a:pt x="8683439" y="1106042"/>
                </a:lnTo>
                <a:lnTo>
                  <a:pt x="4313762" y="6378699"/>
                </a:lnTo>
                <a:lnTo>
                  <a:pt x="0" y="2803700"/>
                </a:lnTo>
                <a:lnTo>
                  <a:pt x="0" y="1068128"/>
                </a:lnTo>
                <a:cubicBezTo>
                  <a:pt x="0" y="478217"/>
                  <a:pt x="478217" y="0"/>
                  <a:pt x="1068128" y="0"/>
                </a:cubicBezTo>
                <a:close/>
              </a:path>
            </a:pathLst>
          </a:custGeom>
          <a:solidFill>
            <a:schemeClr val="tx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E2DE442-FC1D-AA22-5EFC-A93D236F1CCE}"/>
              </a:ext>
            </a:extLst>
          </p:cNvPr>
          <p:cNvSpPr/>
          <p:nvPr/>
        </p:nvSpPr>
        <p:spPr>
          <a:xfrm>
            <a:off x="7051873" y="1128242"/>
            <a:ext cx="2084601" cy="2134565"/>
          </a:xfrm>
          <a:prstGeom prst="ellipse">
            <a:avLst/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F79A470-6F71-94DB-3009-7C07221B087F}"/>
              </a:ext>
            </a:extLst>
          </p:cNvPr>
          <p:cNvSpPr/>
          <p:nvPr/>
        </p:nvSpPr>
        <p:spPr>
          <a:xfrm>
            <a:off x="6843530" y="916137"/>
            <a:ext cx="2501291" cy="2558776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AAC7144-2DE9-4488-BF8E-D3D4646BF0B9}"/>
              </a:ext>
            </a:extLst>
          </p:cNvPr>
          <p:cNvSpPr/>
          <p:nvPr/>
        </p:nvSpPr>
        <p:spPr>
          <a:xfrm>
            <a:off x="6662385" y="738890"/>
            <a:ext cx="2863579" cy="2913270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7" name="Picture 2" descr="https://www.sih.gov.in/img1/SIH-Logo.png">
            <a:extLst>
              <a:ext uri="{FF2B5EF4-FFF2-40B4-BE49-F238E27FC236}">
                <a16:creationId xmlns:a16="http://schemas.microsoft.com/office/drawing/2014/main" id="{91A65FDF-306C-B479-F47E-C515933144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2531" y="1705252"/>
            <a:ext cx="1742218" cy="885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4B9C247-528F-5C2F-CC26-D294F5B7410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59916"/>
          <a:stretch/>
        </p:blipFill>
        <p:spPr>
          <a:xfrm>
            <a:off x="9966820" y="3787353"/>
            <a:ext cx="2265129" cy="2422614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A1300AF5-FC43-D832-5F7A-32F4F6207957}"/>
              </a:ext>
            </a:extLst>
          </p:cNvPr>
          <p:cNvSpPr/>
          <p:nvPr/>
        </p:nvSpPr>
        <p:spPr>
          <a:xfrm>
            <a:off x="7545879" y="3463689"/>
            <a:ext cx="210597" cy="223330"/>
          </a:xfrm>
          <a:prstGeom prst="ellipse">
            <a:avLst/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A300213-E117-B514-EA99-5ACF68E52D7E}"/>
              </a:ext>
            </a:extLst>
          </p:cNvPr>
          <p:cNvSpPr/>
          <p:nvPr/>
        </p:nvSpPr>
        <p:spPr>
          <a:xfrm>
            <a:off x="9330094" y="2659392"/>
            <a:ext cx="210597" cy="223330"/>
          </a:xfrm>
          <a:prstGeom prst="ellipse">
            <a:avLst/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21C6519-CBA6-0C25-F747-B071D1FC0F8F}"/>
              </a:ext>
            </a:extLst>
          </p:cNvPr>
          <p:cNvSpPr/>
          <p:nvPr/>
        </p:nvSpPr>
        <p:spPr>
          <a:xfrm>
            <a:off x="9141587" y="1208919"/>
            <a:ext cx="210597" cy="223330"/>
          </a:xfrm>
          <a:prstGeom prst="ellipse">
            <a:avLst/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FBD098-8B3E-9FF8-11D3-EC389527A6BB}"/>
              </a:ext>
            </a:extLst>
          </p:cNvPr>
          <p:cNvSpPr txBox="1"/>
          <p:nvPr/>
        </p:nvSpPr>
        <p:spPr>
          <a:xfrm>
            <a:off x="9601200" y="35052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78952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61394-4E1F-AA26-B0DE-56D8D0BDF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F079BACD-A723-F695-517C-1BF652483EB0}"/>
              </a:ext>
            </a:extLst>
          </p:cNvPr>
          <p:cNvSpPr/>
          <p:nvPr/>
        </p:nvSpPr>
        <p:spPr>
          <a:xfrm>
            <a:off x="582341" y="310199"/>
            <a:ext cx="9815766" cy="961249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5000"/>
                  <a:lumOff val="95000"/>
                </a:schemeClr>
              </a:gs>
              <a:gs pos="74000">
                <a:schemeClr val="accent5">
                  <a:lumMod val="45000"/>
                  <a:lumOff val="55000"/>
                </a:schemeClr>
              </a:gs>
              <a:gs pos="83000">
                <a:schemeClr val="accent5">
                  <a:lumMod val="45000"/>
                  <a:lumOff val="55000"/>
                </a:schemeClr>
              </a:gs>
              <a:gs pos="100000">
                <a:schemeClr val="accent5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Picture 2" descr="https://www.sih.gov.in/img1/SIH-Logo.png">
            <a:extLst>
              <a:ext uri="{FF2B5EF4-FFF2-40B4-BE49-F238E27FC236}">
                <a16:creationId xmlns:a16="http://schemas.microsoft.com/office/drawing/2014/main" id="{676B2FE9-A35D-1AC7-65AB-8AD8AD09CB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5331" y="84459"/>
            <a:ext cx="1399445" cy="71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Oval 6" descr="Your startup LOGO">
            <a:extLst>
              <a:ext uri="{FF2B5EF4-FFF2-40B4-BE49-F238E27FC236}">
                <a16:creationId xmlns:a16="http://schemas.microsoft.com/office/drawing/2014/main" id="{020B4938-EF31-7BBD-7143-61B5D09D98F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0" y="360951"/>
            <a:ext cx="1251857" cy="807334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Beta Alanine</a:t>
            </a:r>
            <a:endParaRPr lang="en-IN"/>
          </a:p>
        </p:txBody>
      </p:sp>
      <p:sp>
        <p:nvSpPr>
          <p:cNvPr id="15" name="Title 7">
            <a:extLst>
              <a:ext uri="{FF2B5EF4-FFF2-40B4-BE49-F238E27FC236}">
                <a16:creationId xmlns:a16="http://schemas.microsoft.com/office/drawing/2014/main" id="{E6EB37C7-DBCC-111A-D709-14331D68D1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9996" y="161886"/>
            <a:ext cx="9259416" cy="1220789"/>
          </a:xfrm>
        </p:spPr>
        <p:txBody>
          <a:bodyPr/>
          <a:lstStyle/>
          <a:p>
            <a:r>
              <a:rPr lang="en-IN" sz="2400" b="1" err="1">
                <a:latin typeface="Times New Roman" panose="02020603050405020304" pitchFamily="18" charset="0"/>
                <a:cs typeface="Times New Roman" panose="02020603050405020304" pitchFamily="18" charset="0"/>
              </a:rPr>
              <a:t>RetinaScan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 AI — Explainable, Offline Diabetic Retinopathy Screening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E625DE-78BD-9ED8-F536-552D0C7FB2B1}"/>
              </a:ext>
            </a:extLst>
          </p:cNvPr>
          <p:cNvSpPr txBox="1"/>
          <p:nvPr/>
        </p:nvSpPr>
        <p:spPr>
          <a:xfrm>
            <a:off x="304800" y="1398320"/>
            <a:ext cx="894677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IN" sz="2400" b="1">
                <a:latin typeface="Bell MT" panose="02020503060305020303" pitchFamily="18" charset="0"/>
                <a:cs typeface="Times New Roman" panose="02020603050405020304" pitchFamily="18" charset="0"/>
              </a:rPr>
              <a:t>Detailed explanation of the proposed solution:</a:t>
            </a:r>
            <a:endParaRPr lang="en-IN" sz="2400">
              <a:latin typeface="Bell MT" panose="02020503060305020303" pitchFamily="18" charset="0"/>
              <a:cs typeface="Times New Roman" panose="02020603050405020304" pitchFamily="18" charset="0"/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/>
              <a:t>Offline app that grades diabetic retinopathy severity from fundus images (5 stages: No DR → Proliferative)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/>
              <a:t>Grad-CAM heatmap overlay shows exactly which retinal region drove the diagnosis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/>
              <a:t>PyTorch (EfficientNet-B0 + pytorch-grad-cam) for the model, FastAPI + web app for the clinician UI</a:t>
            </a:r>
            <a:r>
              <a:rPr lang="en-IN" err="1"/>
              <a:t/>
            </a:r>
            <a:r>
              <a:rPr lang="en-IN"/>
              <a:t/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endParaRPr lang="en-IN"/>
          </a:p>
          <a:p>
            <a:pPr rtl="0">
              <a:buNone/>
            </a:pPr>
            <a:r>
              <a:rPr lang="en-IN" sz="2400" b="1">
                <a:latin typeface="Bell MT" panose="02020503060305020303" pitchFamily="18" charset="0"/>
              </a:rPr>
              <a:t>How it addresses the problem:</a:t>
            </a:r>
            <a:endParaRPr lang="en-IN" sz="2400">
              <a:latin typeface="Bell MT" panose="02020503060305020303" pitchFamily="18" charset="0"/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/>
              <a:t>Works with zero internet — built for rural PHCs and health camps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/>
              <a:t>Cuts reliance on scarce ophthalmologists for first-level screening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/>
              <a:t>Visual explanation builds trust instead of a black-box output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endParaRPr lang="en-IN"/>
          </a:p>
          <a:p>
            <a:pPr rtl="0">
              <a:buNone/>
            </a:pPr>
            <a:r>
              <a:rPr lang="en-IN" sz="2400" b="1">
                <a:latin typeface="Bell MT" panose="02020503060305020303" pitchFamily="18" charset="0"/>
              </a:rPr>
              <a:t>Innovation and uniqueness:</a:t>
            </a:r>
            <a:endParaRPr lang="en-IN" sz="2400">
              <a:latin typeface="Bell MT" panose="02020503060305020303" pitchFamily="18" charset="0"/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/>
              <a:t>Explainability is core to the workflow, not an add-on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/>
              <a:t>PyTorch CV core following the standard CNN+Grad-CAM workflow + lightweight offline-ready deployment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/>
              <a:t>Batch-screening mode built for camp-style rural outreach</a:t>
            </a:r>
          </a:p>
        </p:txBody>
      </p:sp>
      <p:pic>
        <p:nvPicPr>
          <p:cNvPr id="38" name="Graphic 37">
            <a:extLst>
              <a:ext uri="{FF2B5EF4-FFF2-40B4-BE49-F238E27FC236}">
                <a16:creationId xmlns:a16="http://schemas.microsoft.com/office/drawing/2014/main" id="{25EAC61F-FEFA-221B-6F15-E7B72D776F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14749" y="2578708"/>
            <a:ext cx="2445296" cy="1222648"/>
          </a:xfrm>
          <a:prstGeom prst="rect">
            <a:avLst/>
          </a:prstGeom>
        </p:spPr>
      </p:pic>
      <p:pic>
        <p:nvPicPr>
          <p:cNvPr id="40" name="Graphic 39">
            <a:extLst>
              <a:ext uri="{FF2B5EF4-FFF2-40B4-BE49-F238E27FC236}">
                <a16:creationId xmlns:a16="http://schemas.microsoft.com/office/drawing/2014/main" id="{8B20A676-5437-F065-27C2-BFB73D6DDE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67223" y="3964446"/>
            <a:ext cx="5186905" cy="228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438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0E3EE-91E8-C38F-89EE-344D0730A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C78EC63-0FEF-CE5B-B057-7D82DA747266}"/>
              </a:ext>
            </a:extLst>
          </p:cNvPr>
          <p:cNvSpPr/>
          <p:nvPr/>
        </p:nvSpPr>
        <p:spPr>
          <a:xfrm>
            <a:off x="636606" y="283993"/>
            <a:ext cx="9815766" cy="961249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5000"/>
                  <a:lumOff val="95000"/>
                </a:schemeClr>
              </a:gs>
              <a:gs pos="74000">
                <a:schemeClr val="accent5">
                  <a:lumMod val="45000"/>
                  <a:lumOff val="55000"/>
                </a:schemeClr>
              </a:gs>
              <a:gs pos="83000">
                <a:schemeClr val="accent5">
                  <a:lumMod val="45000"/>
                  <a:lumOff val="55000"/>
                </a:schemeClr>
              </a:gs>
              <a:gs pos="100000">
                <a:schemeClr val="accent5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Picture 2" descr="https://www.sih.gov.in/img1/SIH-Logo.png">
            <a:extLst>
              <a:ext uri="{FF2B5EF4-FFF2-40B4-BE49-F238E27FC236}">
                <a16:creationId xmlns:a16="http://schemas.microsoft.com/office/drawing/2014/main" id="{645E8022-BE84-3606-0D19-6F54D8DB7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5331" y="84459"/>
            <a:ext cx="1399445" cy="71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Oval 6" descr="Your startup LOGO">
            <a:extLst>
              <a:ext uri="{FF2B5EF4-FFF2-40B4-BE49-F238E27FC236}">
                <a16:creationId xmlns:a16="http://schemas.microsoft.com/office/drawing/2014/main" id="{2441E1CF-27EF-98A1-C161-B8404181BE6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0" y="360951"/>
            <a:ext cx="1251857" cy="807334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Beta Alanine</a:t>
            </a:r>
            <a:endParaRPr lang="en-IN"/>
          </a:p>
        </p:txBody>
      </p:sp>
      <p:sp>
        <p:nvSpPr>
          <p:cNvPr id="15" name="Title 7">
            <a:extLst>
              <a:ext uri="{FF2B5EF4-FFF2-40B4-BE49-F238E27FC236}">
                <a16:creationId xmlns:a16="http://schemas.microsoft.com/office/drawing/2014/main" id="{A115F6B4-F363-DC56-0E84-3D34FD7CF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9996" y="154222"/>
            <a:ext cx="9259416" cy="1220789"/>
          </a:xfrm>
        </p:spPr>
        <p:txBody>
          <a:bodyPr/>
          <a:lstStyle/>
          <a:p>
            <a:r>
              <a:rPr lang="en-US" sz="24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lang="en-IN" sz="2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A635344-5E46-87A1-2FEC-4C73CFA5B0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94521" y="2404826"/>
            <a:ext cx="6477000" cy="409575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8943C23-1BD2-3379-5A8C-7334E1BB3DF8}"/>
              </a:ext>
            </a:extLst>
          </p:cNvPr>
          <p:cNvSpPr txBox="1"/>
          <p:nvPr/>
        </p:nvSpPr>
        <p:spPr>
          <a:xfrm>
            <a:off x="2246694" y="2008517"/>
            <a:ext cx="19111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latin typeface="Bell MT" panose="02020503060305020303" pitchFamily="18" charset="0"/>
              </a:rPr>
              <a:t>Technologies</a:t>
            </a:r>
            <a:endParaRPr lang="en-IN" sz="2400">
              <a:latin typeface="Bell MT" panose="02020503060305020303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E1D1FF-0706-497D-BB82-D470B4C5049C}"/>
              </a:ext>
            </a:extLst>
          </p:cNvPr>
          <p:cNvSpPr txBox="1"/>
          <p:nvPr/>
        </p:nvSpPr>
        <p:spPr>
          <a:xfrm>
            <a:off x="8195880" y="1978455"/>
            <a:ext cx="19111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latin typeface="Bell MT" panose="02020503060305020303" pitchFamily="18" charset="0"/>
              </a:rPr>
              <a:t>Methodology</a:t>
            </a:r>
            <a:endParaRPr lang="en-IN" sz="2400">
              <a:latin typeface="Bell MT" panose="02020503060305020303" pitchFamily="18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2BCF975-0AD4-867F-648C-3BBEBE571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125946" y="2605261"/>
            <a:ext cx="6386508" cy="3418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937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1B9C7-FF4A-CC6B-8D36-E5763B275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3DCFE50-E939-260D-99A8-487AFDE1910F}"/>
              </a:ext>
            </a:extLst>
          </p:cNvPr>
          <p:cNvSpPr/>
          <p:nvPr/>
        </p:nvSpPr>
        <p:spPr>
          <a:xfrm>
            <a:off x="636606" y="283993"/>
            <a:ext cx="9815766" cy="961249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5000"/>
                  <a:lumOff val="95000"/>
                </a:schemeClr>
              </a:gs>
              <a:gs pos="74000">
                <a:schemeClr val="accent5">
                  <a:lumMod val="45000"/>
                  <a:lumOff val="55000"/>
                </a:schemeClr>
              </a:gs>
              <a:gs pos="83000">
                <a:schemeClr val="accent5">
                  <a:lumMod val="45000"/>
                  <a:lumOff val="55000"/>
                </a:schemeClr>
              </a:gs>
              <a:gs pos="100000">
                <a:schemeClr val="accent5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Picture 2" descr="https://www.sih.gov.in/img1/SIH-Logo.png">
            <a:extLst>
              <a:ext uri="{FF2B5EF4-FFF2-40B4-BE49-F238E27FC236}">
                <a16:creationId xmlns:a16="http://schemas.microsoft.com/office/drawing/2014/main" id="{AC5F0E2C-E14D-28DB-24D4-D46BC489E6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5331" y="84459"/>
            <a:ext cx="1399445" cy="71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Oval 6" descr="Your startup LOGO">
            <a:extLst>
              <a:ext uri="{FF2B5EF4-FFF2-40B4-BE49-F238E27FC236}">
                <a16:creationId xmlns:a16="http://schemas.microsoft.com/office/drawing/2014/main" id="{7CC0CCC4-41EA-D3A6-BE8B-68B65155051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0" y="360951"/>
            <a:ext cx="1251857" cy="807334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Beta Alanine</a:t>
            </a:r>
            <a:endParaRPr lang="en-IN"/>
          </a:p>
        </p:txBody>
      </p:sp>
      <p:sp>
        <p:nvSpPr>
          <p:cNvPr id="15" name="Title 7">
            <a:extLst>
              <a:ext uri="{FF2B5EF4-FFF2-40B4-BE49-F238E27FC236}">
                <a16:creationId xmlns:a16="http://schemas.microsoft.com/office/drawing/2014/main" id="{10A1367C-4AA3-ECFA-C87C-1FDF979B8B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781" y="104656"/>
            <a:ext cx="9259416" cy="1220789"/>
          </a:xfrm>
        </p:spPr>
        <p:txBody>
          <a:bodyPr/>
          <a:lstStyle/>
          <a:p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F8B25A-96E6-7BC9-A80F-1C2E4558AF7B}"/>
              </a:ext>
            </a:extLst>
          </p:cNvPr>
          <p:cNvSpPr txBox="1"/>
          <p:nvPr/>
        </p:nvSpPr>
        <p:spPr>
          <a:xfrm>
            <a:off x="2164690" y="2036560"/>
            <a:ext cx="19111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chemeClr val="bg1"/>
                </a:solidFill>
                <a:latin typeface="Bell MT" panose="02020503060305020303" pitchFamily="18" charset="0"/>
              </a:rPr>
              <a:t>Technologies</a:t>
            </a:r>
            <a:endParaRPr lang="en-IN" sz="2400">
              <a:solidFill>
                <a:schemeClr val="bg1"/>
              </a:solidFill>
              <a:latin typeface="Bell MT" panose="02020503060305020303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EC893D-D250-45CF-298E-D4C3B00347C9}"/>
              </a:ext>
            </a:extLst>
          </p:cNvPr>
          <p:cNvSpPr txBox="1"/>
          <p:nvPr/>
        </p:nvSpPr>
        <p:spPr>
          <a:xfrm>
            <a:off x="8195880" y="1978455"/>
            <a:ext cx="19111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chemeClr val="bg1"/>
                </a:solidFill>
                <a:latin typeface="Bell MT" panose="02020503060305020303" pitchFamily="18" charset="0"/>
              </a:rPr>
              <a:t>Methodology</a:t>
            </a:r>
            <a:endParaRPr lang="en-IN" sz="2400">
              <a:solidFill>
                <a:schemeClr val="bg1"/>
              </a:solidFill>
              <a:latin typeface="Bell MT" panose="02020503060305020303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714C2A-F7B3-83DE-A637-F8ACFE7D2C9F}"/>
              </a:ext>
            </a:extLst>
          </p:cNvPr>
          <p:cNvSpPr txBox="1"/>
          <p:nvPr/>
        </p:nvSpPr>
        <p:spPr>
          <a:xfrm>
            <a:off x="243190" y="1611603"/>
            <a:ext cx="6614809" cy="5386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ct val="100000"/>
              </a:lnSpc>
              <a:buNone/>
            </a:pPr>
            <a:r>
              <a:rPr lang="en-IN" sz="2400" b="1" i="0">
                <a:solidFill>
                  <a:schemeClr val="tx1"/>
                </a:solidFill>
                <a:effectLst/>
                <a:latin typeface="Bell MT" panose="02020503060305020303" pitchFamily="18" charset="0"/>
              </a:rPr>
              <a:t>Feasibility:</a:t>
            </a:r>
            <a:endParaRPr lang="en-IN" sz="2400" b="0" i="0">
              <a:solidFill>
                <a:schemeClr val="tx1"/>
              </a:solidFill>
              <a:effectLst/>
              <a:latin typeface="Bell MT" panose="02020503060305020303" pitchFamily="18" charset="0"/>
            </a:endParaRPr>
          </a:p>
          <a:p>
            <a:pPr marL="342900" marR="0" lvl="0" indent="-342900" algn="l" rtl="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1800" b="0" i="0">
                <a:solidFill>
                  <a:schemeClr val="tx1"/>
                </a:solidFill>
                <a:effectLst/>
                <a:latin typeface="Calibri" pitchFamily="34" charset="0"/>
              </a:rPr>
              <a:t>Proven tech (CNN + Grad-CAM), public dataset ready, mature Python ML ecosystem speeds up build, low-hardware offline deployment</a:t>
            </a:r>
          </a:p>
          <a:p>
            <a:pPr marL="342900" marR="0" lvl="0" indent="-342900" algn="l" rtl="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IN" sz="2000" b="0" i="0">
              <a:solidFill>
                <a:schemeClr val="tx1"/>
              </a:solidFill>
              <a:effectLst/>
              <a:latin typeface="Bell MT" panose="02020503060305020303" pitchFamily="18" charset="0"/>
            </a:endParaRPr>
          </a:p>
          <a:p>
            <a:pPr marL="0" marR="0" indent="0" algn="l" rtl="0">
              <a:lnSpc>
                <a:spcPct val="100000"/>
              </a:lnSpc>
              <a:buNone/>
            </a:pPr>
            <a:r>
              <a:rPr lang="en-IN" sz="2400" b="1" i="0">
                <a:solidFill>
                  <a:schemeClr val="tx1"/>
                </a:solidFill>
                <a:effectLst/>
                <a:latin typeface="Bell MT" panose="02020503060305020303" pitchFamily="18" charset="0"/>
              </a:rPr>
              <a:t>Challenges and risks:</a:t>
            </a:r>
            <a:endParaRPr lang="en-IN" sz="2400" b="0" i="0">
              <a:solidFill>
                <a:schemeClr val="tx1"/>
              </a:solidFill>
              <a:effectLst/>
              <a:latin typeface="Bell MT" panose="02020503060305020303" pitchFamily="18" charset="0"/>
            </a:endParaRPr>
          </a:p>
          <a:p>
            <a:pPr marL="342900" marR="0" lvl="0" indent="-342900" algn="l" rtl="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1800" b="0" i="0">
                <a:solidFill>
                  <a:schemeClr val="tx1"/>
                </a:solidFill>
                <a:effectLst/>
                <a:latin typeface="Calibri" pitchFamily="34" charset="0"/>
              </a:rPr>
              <a:t>Class imbalance (mostly "No DR" images)</a:t>
            </a:r>
          </a:p>
          <a:p>
            <a:pPr marL="342900" marR="0" lvl="0" indent="-342900" algn="l" rtl="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1800" b="0" i="0">
                <a:solidFill>
                  <a:schemeClr val="tx1"/>
                </a:solidFill>
                <a:effectLst/>
                <a:latin typeface="Calibri" pitchFamily="34" charset="0"/>
              </a:rPr>
              <a:t>Real-world image quality varies from clean training data</a:t>
            </a:r>
          </a:p>
          <a:p>
            <a:pPr marL="342900" marR="0" lvl="0" indent="-342900" algn="l" rtl="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1800" b="0" i="0">
                <a:solidFill>
                  <a:schemeClr val="tx1"/>
                </a:solidFill>
                <a:effectLst/>
                <a:latin typeface="Calibri" pitchFamily="34" charset="0"/>
              </a:rPr>
              <a:t>Heatmaps can look right but be clinically wrong</a:t>
            </a:r>
          </a:p>
          <a:p>
            <a:pPr marL="342900" marR="0" lvl="0" indent="-342900" algn="l" rtl="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1800" b="0" i="0">
                <a:solidFill>
                  <a:schemeClr val="tx1"/>
                </a:solidFill>
                <a:effectLst/>
                <a:latin typeface="Calibri" pitchFamily="34" charset="0"/>
              </a:rPr>
              <a:t>False negatives on severe cases are dangerous</a:t>
            </a:r>
          </a:p>
          <a:p>
            <a:pPr marL="342900" marR="0" lvl="0" indent="-342900" algn="l" rtl="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IN" sz="1800" b="0" i="0">
              <a:solidFill>
                <a:schemeClr val="tx1"/>
              </a:solidFill>
              <a:effectLst/>
              <a:latin typeface="Calibri" pitchFamily="34" charset="0"/>
            </a:endParaRPr>
          </a:p>
          <a:p>
            <a:pPr marL="0" marR="0" indent="0" algn="l" rtl="0">
              <a:lnSpc>
                <a:spcPct val="100000"/>
              </a:lnSpc>
              <a:buNone/>
            </a:pPr>
            <a:r>
              <a:rPr lang="en-IN" sz="2400" b="1" i="0">
                <a:solidFill>
                  <a:schemeClr val="tx1"/>
                </a:solidFill>
                <a:effectLst/>
                <a:latin typeface="Bell MT" panose="02020503060305020303" pitchFamily="18" charset="0"/>
              </a:rPr>
              <a:t>Strategies:</a:t>
            </a:r>
          </a:p>
          <a:p>
            <a:pPr marL="342900" marR="0" lvl="0" indent="-342900" algn="l" rtl="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1800" b="0" i="0">
                <a:solidFill>
                  <a:schemeClr val="tx1"/>
                </a:solidFill>
                <a:effectLst/>
                <a:latin typeface="Calibri" pitchFamily="34" charset="0"/>
              </a:rPr>
              <a:t>Weighted loss for imbalance</a:t>
            </a:r>
          </a:p>
          <a:p>
            <a:pPr marL="342900" marR="0" lvl="0" indent="-342900" algn="l" rtl="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1800" b="0" i="0" err="1">
                <a:solidFill>
                  <a:schemeClr val="tx1"/>
                </a:solidFill>
                <a:effectLst/>
                <a:latin typeface="Calibri" pitchFamily="34" charset="0"/>
              </a:rPr>
              <a:t>CLAHE</a:t>
            </a:r>
            <a:r>
              <a:rPr lang="en-IN" sz="1800" b="0" i="0">
                <a:solidFill>
                  <a:schemeClr val="tx1"/>
                </a:solidFill>
                <a:effectLst/>
                <a:latin typeface="Calibri" pitchFamily="34" charset="0"/>
              </a:rPr>
              <a:t> preprocessing for image variation</a:t>
            </a:r>
          </a:p>
          <a:p>
            <a:pPr marL="342900" marR="0" lvl="0" indent="-342900" algn="l" rtl="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1800" b="0" i="0">
                <a:solidFill>
                  <a:schemeClr val="tx1"/>
                </a:solidFill>
                <a:effectLst/>
                <a:latin typeface="Calibri" pitchFamily="34" charset="0"/>
              </a:rPr>
              <a:t>Validate Grad-CAM against annotated lesion data</a:t>
            </a:r>
          </a:p>
          <a:p>
            <a:pPr marL="342900" marR="0" lvl="0" indent="-342900" algn="l" rtl="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1800" b="0" i="0">
                <a:solidFill>
                  <a:schemeClr val="tx1"/>
                </a:solidFill>
                <a:effectLst/>
                <a:latin typeface="Calibri" pitchFamily="34" charset="0"/>
              </a:rPr>
              <a:t>Tune for high recall on severe cases</a:t>
            </a:r>
          </a:p>
          <a:p>
            <a:pPr marL="342900" marR="0" lvl="0" indent="-342900" algn="l" rtl="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1800" b="0" i="0">
                <a:solidFill>
                  <a:schemeClr val="tx1"/>
                </a:solidFill>
                <a:effectLst/>
                <a:latin typeface="Calibri" pitchFamily="34" charset="0"/>
              </a:rPr>
              <a:t>Position as screening/referral aid, not final diagnosis</a:t>
            </a:r>
          </a:p>
          <a:p>
            <a:pPr>
              <a:buNone/>
            </a:pPr>
            <a:br>
              <a:rPr lang="en-IN"/>
            </a:br>
            <a:endParaRPr lang="en-IN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19441AC7-0122-EDE7-971A-0897D64EE1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04339" y="1504782"/>
            <a:ext cx="5294279" cy="2476906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9F8AE0D1-E79B-D40A-785F-34CC4FB8D4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80389" y="4241228"/>
            <a:ext cx="4376089" cy="196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1059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F41F5-3D87-15F7-12F7-751188494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5D26561-E5F9-AB21-18E2-F05F624553BE}"/>
              </a:ext>
            </a:extLst>
          </p:cNvPr>
          <p:cNvSpPr/>
          <p:nvPr/>
        </p:nvSpPr>
        <p:spPr>
          <a:xfrm>
            <a:off x="636606" y="283993"/>
            <a:ext cx="9815766" cy="961249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5000"/>
                  <a:lumOff val="95000"/>
                </a:schemeClr>
              </a:gs>
              <a:gs pos="74000">
                <a:schemeClr val="accent5">
                  <a:lumMod val="45000"/>
                  <a:lumOff val="55000"/>
                </a:schemeClr>
              </a:gs>
              <a:gs pos="83000">
                <a:schemeClr val="accent5">
                  <a:lumMod val="45000"/>
                  <a:lumOff val="55000"/>
                </a:schemeClr>
              </a:gs>
              <a:gs pos="100000">
                <a:schemeClr val="accent5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Picture 2" descr="https://www.sih.gov.in/img1/SIH-Logo.png">
            <a:extLst>
              <a:ext uri="{FF2B5EF4-FFF2-40B4-BE49-F238E27FC236}">
                <a16:creationId xmlns:a16="http://schemas.microsoft.com/office/drawing/2014/main" id="{4E91CEBF-E787-8E55-D069-19FE95CE26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5331" y="84459"/>
            <a:ext cx="1399445" cy="71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Oval 6" descr="Your startup LOGO">
            <a:extLst>
              <a:ext uri="{FF2B5EF4-FFF2-40B4-BE49-F238E27FC236}">
                <a16:creationId xmlns:a16="http://schemas.microsoft.com/office/drawing/2014/main" id="{8002A2B1-11F8-C6D6-99CF-238D8845072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0" y="360951"/>
            <a:ext cx="1251857" cy="807334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Beta Alanine</a:t>
            </a:r>
            <a:endParaRPr lang="en-IN"/>
          </a:p>
        </p:txBody>
      </p:sp>
      <p:sp>
        <p:nvSpPr>
          <p:cNvPr id="15" name="Title 7">
            <a:extLst>
              <a:ext uri="{FF2B5EF4-FFF2-40B4-BE49-F238E27FC236}">
                <a16:creationId xmlns:a16="http://schemas.microsoft.com/office/drawing/2014/main" id="{CACA4A13-2386-20C2-A2E7-6BA564B5F5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781" y="104656"/>
            <a:ext cx="9259416" cy="1220789"/>
          </a:xfrm>
        </p:spPr>
        <p:txBody>
          <a:bodyPr/>
          <a:lstStyle/>
          <a:p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37429C3-E6C2-4409-2880-1C2FAB339B6E}"/>
              </a:ext>
            </a:extLst>
          </p:cNvPr>
          <p:cNvSpPr txBox="1"/>
          <p:nvPr/>
        </p:nvSpPr>
        <p:spPr>
          <a:xfrm>
            <a:off x="2164690" y="2036560"/>
            <a:ext cx="19111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chemeClr val="bg1"/>
                </a:solidFill>
                <a:latin typeface="Bell MT" panose="02020503060305020303" pitchFamily="18" charset="0"/>
              </a:rPr>
              <a:t>Technologies</a:t>
            </a:r>
            <a:endParaRPr lang="en-IN" sz="2400">
              <a:solidFill>
                <a:schemeClr val="bg1"/>
              </a:solidFill>
              <a:latin typeface="Bell MT" panose="02020503060305020303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557ECA-62F1-A5A2-4383-28CFB09AB299}"/>
              </a:ext>
            </a:extLst>
          </p:cNvPr>
          <p:cNvSpPr txBox="1"/>
          <p:nvPr/>
        </p:nvSpPr>
        <p:spPr>
          <a:xfrm>
            <a:off x="8195880" y="1978455"/>
            <a:ext cx="19111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chemeClr val="bg1"/>
                </a:solidFill>
                <a:latin typeface="Bell MT" panose="02020503060305020303" pitchFamily="18" charset="0"/>
              </a:rPr>
              <a:t>Methodology</a:t>
            </a:r>
            <a:endParaRPr lang="en-IN" sz="2400">
              <a:solidFill>
                <a:schemeClr val="bg1"/>
              </a:solidFill>
              <a:latin typeface="Bell MT" panose="02020503060305020303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3224DB-3C0C-D76F-3ACB-A12BFC89A688}"/>
              </a:ext>
            </a:extLst>
          </p:cNvPr>
          <p:cNvSpPr txBox="1"/>
          <p:nvPr/>
        </p:nvSpPr>
        <p:spPr>
          <a:xfrm>
            <a:off x="243190" y="1611603"/>
            <a:ext cx="66148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en-IN"/>
            </a:br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6A5369-741E-B13C-3D01-5ED25DDF7D65}"/>
              </a:ext>
            </a:extLst>
          </p:cNvPr>
          <p:cNvSpPr txBox="1"/>
          <p:nvPr/>
        </p:nvSpPr>
        <p:spPr>
          <a:xfrm>
            <a:off x="243190" y="1246862"/>
            <a:ext cx="7126195" cy="5539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IN" sz="2400" b="1">
                <a:latin typeface="Bell MT" panose="02020503060305020303" pitchFamily="18" charset="0"/>
              </a:rPr>
              <a:t>Potential impact on the target audience:</a:t>
            </a:r>
            <a:endParaRPr lang="en-IN" sz="2400">
              <a:latin typeface="Bell MT" panose="02020503060305020303" pitchFamily="18" charset="0"/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/>
              <a:t>Rural/PHC patients get early DR screening without traveling to a specialist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/>
              <a:t>Health workers get a trustworthy, explainable second opinion, not a black box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/>
              <a:t>Enables earlier referral before vision loss becomes irreversible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/>
              <a:t>Reduces the burden on India's limited pool of ophthalmologists for first-level screening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/>
              <a:t>Builds patient trust and follow-up compliance since they can see the visual reasoning, not just a verdict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endParaRPr lang="en-IN"/>
          </a:p>
          <a:p>
            <a:pPr rtl="0">
              <a:buNone/>
            </a:pPr>
            <a:r>
              <a:rPr lang="en-IN" sz="2400" b="1">
                <a:latin typeface="Bell MT" panose="02020503060305020303" pitchFamily="18" charset="0"/>
              </a:rPr>
              <a:t>Benefits of the solution:</a:t>
            </a:r>
            <a:endParaRPr lang="en-IN" sz="2400">
              <a:latin typeface="Bell MT" panose="02020503060305020303" pitchFamily="18" charset="0"/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 b="1"/>
              <a:t>Social:</a:t>
            </a:r>
            <a:r>
              <a:rPr lang="en-IN"/>
              <a:t> wider access to eye care, fewer preventable blindness cases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 b="1"/>
              <a:t>Economic:</a:t>
            </a:r>
            <a:r>
              <a:rPr lang="en-IN"/>
              <a:t> less specialist dependency, avoids costlier late-stage treatment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 b="1"/>
              <a:t>Operational:</a:t>
            </a:r>
            <a:r>
              <a:rPr lang="en-IN"/>
              <a:t> offline-first, no cloud/connectivity cost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 b="1"/>
              <a:t>Scalability:</a:t>
            </a:r>
            <a:r>
              <a:rPr lang="en-IN"/>
              <a:t> batch mode screens full health camps in one sitting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 b="1"/>
              <a:t>Sustainability:</a:t>
            </a:r>
            <a:r>
              <a:rPr lang="en-IN"/>
              <a:t> low-hardware requirement keeps long-term running cost near zero for clinics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87CDFE-3D26-4286-67FD-3F4AA3749C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1432" y="1491150"/>
            <a:ext cx="4820594" cy="1417822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8F1B5352-450E-396B-4825-0EB81E756A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40003" y="2786340"/>
            <a:ext cx="6477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093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4A1EF-0328-A25E-4125-E77380134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D271CB4-B8EE-5529-EB26-6DA67CDA31CB}"/>
              </a:ext>
            </a:extLst>
          </p:cNvPr>
          <p:cNvSpPr/>
          <p:nvPr/>
        </p:nvSpPr>
        <p:spPr>
          <a:xfrm>
            <a:off x="636606" y="283993"/>
            <a:ext cx="9815766" cy="961249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5000"/>
                  <a:lumOff val="95000"/>
                </a:schemeClr>
              </a:gs>
              <a:gs pos="74000">
                <a:schemeClr val="accent5">
                  <a:lumMod val="45000"/>
                  <a:lumOff val="55000"/>
                </a:schemeClr>
              </a:gs>
              <a:gs pos="83000">
                <a:schemeClr val="accent5">
                  <a:lumMod val="45000"/>
                  <a:lumOff val="55000"/>
                </a:schemeClr>
              </a:gs>
              <a:gs pos="100000">
                <a:schemeClr val="accent5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Picture 2" descr="https://www.sih.gov.in/img1/SIH-Logo.png">
            <a:extLst>
              <a:ext uri="{FF2B5EF4-FFF2-40B4-BE49-F238E27FC236}">
                <a16:creationId xmlns:a16="http://schemas.microsoft.com/office/drawing/2014/main" id="{8DCB0308-F01A-B8A2-CFDD-E13AD7060B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5331" y="84459"/>
            <a:ext cx="1399445" cy="71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Oval 6" descr="Your startup LOGO">
            <a:extLst>
              <a:ext uri="{FF2B5EF4-FFF2-40B4-BE49-F238E27FC236}">
                <a16:creationId xmlns:a16="http://schemas.microsoft.com/office/drawing/2014/main" id="{3EF2B392-8AB6-AEBC-0FA0-E73B7E094A6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0" y="360951"/>
            <a:ext cx="1251857" cy="807334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Beta Alanine</a:t>
            </a:r>
            <a:endParaRPr lang="en-IN"/>
          </a:p>
        </p:txBody>
      </p:sp>
      <p:sp>
        <p:nvSpPr>
          <p:cNvPr id="15" name="Title 7">
            <a:extLst>
              <a:ext uri="{FF2B5EF4-FFF2-40B4-BE49-F238E27FC236}">
                <a16:creationId xmlns:a16="http://schemas.microsoft.com/office/drawing/2014/main" id="{41FA76C5-20E9-A93F-2A49-6162D0F5B9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781" y="104656"/>
            <a:ext cx="9259416" cy="1220789"/>
          </a:xfrm>
        </p:spPr>
        <p:txBody>
          <a:bodyPr/>
          <a:lstStyle/>
          <a:p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F8371B-9384-1E99-21DF-58020B2EDE5B}"/>
              </a:ext>
            </a:extLst>
          </p:cNvPr>
          <p:cNvSpPr txBox="1"/>
          <p:nvPr/>
        </p:nvSpPr>
        <p:spPr>
          <a:xfrm>
            <a:off x="2164690" y="2036560"/>
            <a:ext cx="19111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chemeClr val="bg1"/>
                </a:solidFill>
                <a:latin typeface="Bell MT" panose="02020503060305020303" pitchFamily="18" charset="0"/>
              </a:rPr>
              <a:t>Technologies</a:t>
            </a:r>
            <a:endParaRPr lang="en-IN" sz="2400">
              <a:solidFill>
                <a:schemeClr val="bg1"/>
              </a:solidFill>
              <a:latin typeface="Bell MT" panose="02020503060305020303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EA1E28-3B88-6F41-A454-223D2CFC32DA}"/>
              </a:ext>
            </a:extLst>
          </p:cNvPr>
          <p:cNvSpPr txBox="1"/>
          <p:nvPr/>
        </p:nvSpPr>
        <p:spPr>
          <a:xfrm>
            <a:off x="8195880" y="1978455"/>
            <a:ext cx="19111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chemeClr val="bg1"/>
                </a:solidFill>
                <a:latin typeface="Bell MT" panose="02020503060305020303" pitchFamily="18" charset="0"/>
              </a:rPr>
              <a:t>Methodology</a:t>
            </a:r>
            <a:endParaRPr lang="en-IN" sz="2400">
              <a:solidFill>
                <a:schemeClr val="bg1"/>
              </a:solidFill>
              <a:latin typeface="Bell MT" panose="02020503060305020303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A1E99E-253B-5B6D-DDDF-FA78392D3DB6}"/>
              </a:ext>
            </a:extLst>
          </p:cNvPr>
          <p:cNvSpPr txBox="1"/>
          <p:nvPr/>
        </p:nvSpPr>
        <p:spPr>
          <a:xfrm>
            <a:off x="243190" y="1611603"/>
            <a:ext cx="66148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en-IN"/>
            </a:br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12BFAB-3705-D7E7-D012-0144FF28A33D}"/>
              </a:ext>
            </a:extLst>
          </p:cNvPr>
          <p:cNvSpPr txBox="1"/>
          <p:nvPr/>
        </p:nvSpPr>
        <p:spPr>
          <a:xfrm>
            <a:off x="425062" y="1409825"/>
            <a:ext cx="100273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IN" sz="2400" b="1">
                <a:effectLst/>
                <a:latin typeface="Bell MT" panose="02020503060305020303" pitchFamily="18" charset="0"/>
              </a:rPr>
              <a:t>References: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DA0765E-4A03-36DB-7CC7-8BB4CEAC82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289" y="1589818"/>
            <a:ext cx="8982358" cy="3962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2723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/>
        </a:solidFill>
      </a:spPr>
      <a:bodyPr wrap="square" rtlCol="0" anchor="ctr">
        <a:noAutofit/>
      </a:bodyPr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7601</TotalTime>
  <Words>433</Words>
  <Application>Microsoft Office PowerPoint</Application>
  <PresentationFormat>Widescreen</PresentationFormat>
  <Paragraphs>82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Arial</vt:lpstr>
      <vt:lpstr>Bell MT</vt:lpstr>
      <vt:lpstr>Calibri</vt:lpstr>
      <vt:lpstr>Garamond</vt:lpstr>
      <vt:lpstr>Times New Roman</vt:lpstr>
      <vt:lpstr>TradeGothic</vt:lpstr>
      <vt:lpstr>Office Theme</vt:lpstr>
      <vt:lpstr>SMART INDIA HACKATHON 2025</vt:lpstr>
      <vt:lpstr>RetinaScan AI — Explainable, Offline Diabetic Retinopathy Screening</vt:lpstr>
      <vt:lpstr>TECHNICAL APPROACH</vt:lpstr>
      <vt:lpstr>FEASIBILITY AND VIABILITY</vt:lpstr>
      <vt:lpstr>IMPACT AND BENEFITS</vt:lpstr>
      <vt:lpstr>IMPACT AND BENEFITS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Tushar Koli</cp:lastModifiedBy>
  <cp:revision>148</cp:revision>
  <dcterms:created xsi:type="dcterms:W3CDTF">2013-12-12T18:46:50Z</dcterms:created>
  <dcterms:modified xsi:type="dcterms:W3CDTF">2026-08-27T10:49:48Z</dcterms:modified>
  <cp:category/>
</cp:coreProperties>
</file>