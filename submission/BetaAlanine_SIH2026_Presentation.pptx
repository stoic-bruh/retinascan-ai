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99" r:id="rId3"/>
    <p:sldId id="300" r:id="rId4"/>
    <p:sldId id="301" r:id="rId5"/>
    <p:sldId id="302" r:id="rId6"/>
    <p:sldId id="303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83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27" autoAdjust="0"/>
  </p:normalViewPr>
  <p:slideViewPr>
    <p:cSldViewPr snapToGrid="0" snapToObjects="1">
      <p:cViewPr varScale="1">
        <p:scale>
          <a:sx n="49" d="100"/>
          <a:sy n="49" d="100"/>
        </p:scale>
        <p:origin x="7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oli" userId="008641bab1ba28e0" providerId="LiveId" clId="{AF9D182C-6BA4-45C4-8211-09F81F872F4F}"/>
    <pc:docChg chg="custSel modSld">
      <pc:chgData name="Tushar Koli" userId="008641bab1ba28e0" providerId="LiveId" clId="{AF9D182C-6BA4-45C4-8211-09F81F872F4F}" dt="2026-09-09T11:18:36.177" v="35" actId="1076"/>
      <pc:docMkLst>
        <pc:docMk/>
      </pc:docMkLst>
      <pc:sldChg chg="addSp delSp modSp mod">
        <pc:chgData name="Tushar Koli" userId="008641bab1ba28e0" providerId="LiveId" clId="{AF9D182C-6BA4-45C4-8211-09F81F872F4F}" dt="2026-08-30T11:46:52.036" v="24" actId="1076"/>
        <pc:sldMkLst>
          <pc:docMk/>
          <pc:sldMk cId="3807895206" sldId="298"/>
        </pc:sldMkLst>
        <pc:spChg chg="mod">
          <ac:chgData name="Tushar Koli" userId="008641bab1ba28e0" providerId="LiveId" clId="{AF9D182C-6BA4-45C4-8211-09F81F872F4F}" dt="2026-08-30T11:46:52.036" v="24" actId="1076"/>
          <ac:spMkLst>
            <pc:docMk/>
            <pc:sldMk cId="3807895206" sldId="298"/>
            <ac:spMk id="21" creationId="{DE2DE442-FC1D-AA22-5EFC-A93D236F1CCE}"/>
          </ac:spMkLst>
        </pc:spChg>
        <pc:picChg chg="add mod">
          <ac:chgData name="Tushar Koli" userId="008641bab1ba28e0" providerId="LiveId" clId="{AF9D182C-6BA4-45C4-8211-09F81F872F4F}" dt="2026-08-30T11:46:48.419" v="23" actId="1076"/>
          <ac:picMkLst>
            <pc:docMk/>
            <pc:sldMk cId="3807895206" sldId="298"/>
            <ac:picMk id="4" creationId="{A70D289A-766A-620B-85FD-871B699E31FA}"/>
          </ac:picMkLst>
        </pc:picChg>
      </pc:sldChg>
      <pc:sldChg chg="addSp delSp mod">
        <pc:chgData name="Tushar Koli" userId="008641bab1ba28e0" providerId="LiveId" clId="{AF9D182C-6BA4-45C4-8211-09F81F872F4F}" dt="2026-08-30T11:46:39.535" v="20" actId="22"/>
        <pc:sldMkLst>
          <pc:docMk/>
          <pc:sldMk cId="3798438792" sldId="299"/>
        </pc:sldMkLst>
        <pc:picChg chg="add">
          <ac:chgData name="Tushar Koli" userId="008641bab1ba28e0" providerId="LiveId" clId="{AF9D182C-6BA4-45C4-8211-09F81F872F4F}" dt="2026-08-30T11:46:39.535" v="20" actId="22"/>
          <ac:picMkLst>
            <pc:docMk/>
            <pc:sldMk cId="3798438792" sldId="299"/>
            <ac:picMk id="3" creationId="{81E66511-69DB-7291-3CDC-C34164EFC093}"/>
          </ac:picMkLst>
        </pc:picChg>
      </pc:sldChg>
      <pc:sldChg chg="addSp delSp modSp mod">
        <pc:chgData name="Tushar Koli" userId="008641bab1ba28e0" providerId="LiveId" clId="{AF9D182C-6BA4-45C4-8211-09F81F872F4F}" dt="2026-09-09T11:18:36.177" v="35" actId="1076"/>
        <pc:sldMkLst>
          <pc:docMk/>
          <pc:sldMk cId="2401937804" sldId="300"/>
        </pc:sldMkLst>
        <pc:spChg chg="mod">
          <ac:chgData name="Tushar Koli" userId="008641bab1ba28e0" providerId="LiveId" clId="{AF9D182C-6BA4-45C4-8211-09F81F872F4F}" dt="2026-08-30T11:56:46.679" v="34" actId="1076"/>
          <ac:spMkLst>
            <pc:docMk/>
            <pc:sldMk cId="2401937804" sldId="300"/>
            <ac:spMk id="16" creationId="{78943C23-1BD2-3379-5A8C-7334E1BB3DF8}"/>
          </ac:spMkLst>
        </pc:spChg>
        <pc:spChg chg="mod">
          <ac:chgData name="Tushar Koli" userId="008641bab1ba28e0" providerId="LiveId" clId="{AF9D182C-6BA4-45C4-8211-09F81F872F4F}" dt="2026-09-09T11:18:36.177" v="35" actId="1076"/>
          <ac:spMkLst>
            <pc:docMk/>
            <pc:sldMk cId="2401937804" sldId="300"/>
            <ac:spMk id="19" creationId="{00E1D1FF-0706-497D-BB82-D470B4C5049C}"/>
          </ac:spMkLst>
        </pc:spChg>
        <pc:picChg chg="add mod">
          <ac:chgData name="Tushar Koli" userId="008641bab1ba28e0" providerId="LiveId" clId="{AF9D182C-6BA4-45C4-8211-09F81F872F4F}" dt="2026-08-30T11:46:05.087" v="7" actId="1076"/>
          <ac:picMkLst>
            <pc:docMk/>
            <pc:sldMk cId="2401937804" sldId="300"/>
            <ac:picMk id="9" creationId="{6D0D0099-7BE6-5418-9B08-2D2D84B17565}"/>
          </ac:picMkLst>
        </pc:picChg>
      </pc:sldChg>
      <pc:sldChg chg="addSp delSp modSp mod">
        <pc:chgData name="Tushar Koli" userId="008641bab1ba28e0" providerId="LiveId" clId="{AF9D182C-6BA4-45C4-8211-09F81F872F4F}" dt="2026-08-30T11:46:21.478" v="13" actId="1076"/>
        <pc:sldMkLst>
          <pc:docMk/>
          <pc:sldMk cId="3156105987" sldId="301"/>
        </pc:sldMkLst>
        <pc:picChg chg="add mod">
          <ac:chgData name="Tushar Koli" userId="008641bab1ba28e0" providerId="LiveId" clId="{AF9D182C-6BA4-45C4-8211-09F81F872F4F}" dt="2026-08-30T11:46:21.478" v="13" actId="1076"/>
          <ac:picMkLst>
            <pc:docMk/>
            <pc:sldMk cId="3156105987" sldId="301"/>
            <ac:picMk id="3" creationId="{D1F9ABAF-5DB4-C921-4F6D-7D4EF8F97070}"/>
          </ac:picMkLst>
        </pc:picChg>
      </pc:sldChg>
      <pc:sldChg chg="addSp delSp modSp mod">
        <pc:chgData name="Tushar Koli" userId="008641bab1ba28e0" providerId="LiveId" clId="{AF9D182C-6BA4-45C4-8211-09F81F872F4F}" dt="2026-08-30T11:46:27.489" v="16" actId="1076"/>
        <pc:sldMkLst>
          <pc:docMk/>
          <pc:sldMk cId="1720093738" sldId="302"/>
        </pc:sldMkLst>
        <pc:picChg chg="add mod">
          <ac:chgData name="Tushar Koli" userId="008641bab1ba28e0" providerId="LiveId" clId="{AF9D182C-6BA4-45C4-8211-09F81F872F4F}" dt="2026-08-30T11:46:27.489" v="16" actId="1076"/>
          <ac:picMkLst>
            <pc:docMk/>
            <pc:sldMk cId="1720093738" sldId="302"/>
            <ac:picMk id="5" creationId="{62E03E21-C792-1363-2E79-10233DBDB4A0}"/>
          </ac:picMkLst>
        </pc:picChg>
      </pc:sldChg>
      <pc:sldChg chg="addSp delSp mod">
        <pc:chgData name="Tushar Koli" userId="008641bab1ba28e0" providerId="LiveId" clId="{AF9D182C-6BA4-45C4-8211-09F81F872F4F}" dt="2026-08-30T11:46:31.406" v="18" actId="22"/>
        <pc:sldMkLst>
          <pc:docMk/>
          <pc:sldMk cId="443272367" sldId="303"/>
        </pc:sldMkLst>
        <pc:picChg chg="add">
          <ac:chgData name="Tushar Koli" userId="008641bab1ba28e0" providerId="LiveId" clId="{AF9D182C-6BA4-45C4-8211-09F81F872F4F}" dt="2026-08-30T11:46:31.406" v="18" actId="22"/>
          <ac:picMkLst>
            <pc:docMk/>
            <pc:sldMk cId="443272367" sldId="303"/>
            <ac:picMk id="3" creationId="{EA5A9DB6-6FEE-0539-AB6D-0E5F53D4FD06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9349-9240-AE2E-FFE4-8745F255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93E3A-C963-AE80-A1F2-D900BD235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A630C-09E3-5601-4CBA-EA00BCBF9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E5DF-CCBA-2E7C-BCDC-258820705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1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5AA6-6621-A702-B34F-BD2456C4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3A300-E02B-AE78-FC67-E23A4E8D3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8E5CA-5948-E622-6F0B-925F0255C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B962D-FCB1-D4CB-AD9B-59A0EBA0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19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F32E-8178-418D-D488-57F8B07A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AA6CD-B13D-227D-0DF6-728A21385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D3AFF-3E0A-1BA3-B754-22B1F2CBE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0235D-98C1-919E-ED61-024F34C75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4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0DBE-27CF-01DE-7DDF-D33A2C2F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BE7AC-5E84-AB4B-DEEA-255EA5273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FE559-79B5-2DF6-6D94-9CE680AC3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128F3-0AAB-B2B7-8BF2-6DF9F2EBD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27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6D46-4EF9-CA81-1831-93DCA1F7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2C19E-022A-CCC4-7D9E-D8E72727B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4DCA-8C1A-D71A-64E9-CFB195FBE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B123-A3D1-E3DF-E111-ACB84BFA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4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213E-8E3B-58B4-26B7-2DEBD93D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039EB-F563-9EC8-BB0D-D70F77956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BEB63-91EE-65C0-3D46-9915D3FC0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C8070-DE7D-F194-F077-F76BBB638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61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417-354E-3E0D-809C-B2740EA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C45C71-C5BE-FF48-F76A-647377EBC92A}"/>
              </a:ext>
            </a:extLst>
          </p:cNvPr>
          <p:cNvSpPr/>
          <p:nvPr/>
        </p:nvSpPr>
        <p:spPr>
          <a:xfrm>
            <a:off x="205169" y="104037"/>
            <a:ext cx="6846704" cy="89177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73F4EAC-C982-DD59-5C5F-B1FC8A471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000" y="-60468"/>
            <a:ext cx="9448799" cy="1220789"/>
          </a:xfrm>
        </p:spPr>
        <p:txBody>
          <a:bodyPr/>
          <a:lstStyle/>
          <a:p>
            <a:r>
              <a:rPr lang="en-US" sz="3200" b="1">
                <a:latin typeface="Garamond" panose="02020404030301010803" pitchFamily="18" charset="0"/>
              </a:rPr>
              <a:t>SMART INDIA HACKATHON 2026</a:t>
            </a:r>
            <a:endParaRPr lang="en-IN" sz="3200" b="1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E780F-72B6-DF66-5F39-81367347770E}"/>
              </a:ext>
            </a:extLst>
          </p:cNvPr>
          <p:cNvSpPr txBox="1"/>
          <p:nvPr/>
        </p:nvSpPr>
        <p:spPr>
          <a:xfrm>
            <a:off x="91099" y="1297672"/>
            <a:ext cx="530671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Problem Statement ID –</a:t>
            </a:r>
            <a:r>
              <a:rPr lang="en-IN"/>
              <a:t> </a:t>
            </a:r>
            <a:r>
              <a:rPr lang="en-IN" err="1"/>
              <a:t>SIH26038</a:t>
            </a:r>
            <a:endParaRPr lang="en-IN"/>
          </a:p>
          <a:p>
            <a:pPr lvl="0"/>
            <a:endParaRPr lang="en-IN"/>
          </a:p>
          <a:p>
            <a:pPr lvl="0"/>
            <a:r>
              <a:rPr lang="en-IN" b="1"/>
              <a:t>Problem Statement Title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Explainable AI for Diabetic</a:t>
            </a:r>
          </a:p>
          <a:p>
            <a:pPr lvl="0"/>
            <a:r>
              <a:rPr lang="en-IN"/>
              <a:t>Retinopathy Screening in Rural India</a:t>
            </a:r>
          </a:p>
          <a:p>
            <a:pPr lvl="0"/>
            <a:endParaRPr lang="en-IN"/>
          </a:p>
          <a:p>
            <a:pPr lvl="0"/>
            <a:r>
              <a:rPr lang="en-IN" b="1"/>
              <a:t>Theme</a:t>
            </a:r>
            <a:r>
              <a:rPr lang="en-IN" sz="1400" b="1"/>
              <a:t> –</a:t>
            </a:r>
            <a:r>
              <a:rPr lang="en-IN" sz="1400"/>
              <a:t> </a:t>
            </a:r>
            <a:r>
              <a:rPr lang="en-IN"/>
              <a:t>MedTech / </a:t>
            </a:r>
            <a:r>
              <a:rPr lang="en-IN" err="1"/>
              <a:t>BioTech</a:t>
            </a:r>
            <a:r>
              <a:rPr lang="en-IN"/>
              <a:t> / HealthTech</a:t>
            </a:r>
          </a:p>
          <a:p>
            <a:pPr lvl="0"/>
            <a:r>
              <a:rPr lang="en-IN" b="1"/>
              <a:t>PS Category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Software</a:t>
            </a:r>
          </a:p>
          <a:p>
            <a:pPr lvl="0"/>
            <a:endParaRPr lang="en-IN"/>
          </a:p>
          <a:p>
            <a:pPr lvl="0"/>
            <a:r>
              <a:rPr lang="en-IN" b="1"/>
              <a:t>Team ID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 sz="1600"/>
              <a:t>110084</a:t>
            </a:r>
          </a:p>
          <a:p>
            <a:pPr lvl="0"/>
            <a:endParaRPr lang="en-IN"/>
          </a:p>
          <a:p>
            <a:pPr lvl="0"/>
            <a:r>
              <a:rPr lang="en-IN" b="1"/>
              <a:t>Team Name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Beta Alanine</a:t>
            </a:r>
            <a:endParaRPr lang="en-IN" sz="14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BA98833-165B-BF48-35DF-E32D1C114DA5}"/>
              </a:ext>
            </a:extLst>
          </p:cNvPr>
          <p:cNvSpPr/>
          <p:nvPr/>
        </p:nvSpPr>
        <p:spPr>
          <a:xfrm rot="19221000">
            <a:off x="6053062" y="1224230"/>
            <a:ext cx="8683439" cy="6378699"/>
          </a:xfrm>
          <a:custGeom>
            <a:avLst/>
            <a:gdLst>
              <a:gd name="csX0" fmla="*/ 7348838 w 8683439"/>
              <a:gd name="csY0" fmla="*/ 0 h 6378699"/>
              <a:gd name="csX1" fmla="*/ 8683439 w 8683439"/>
              <a:gd name="csY1" fmla="*/ 1106042 h 6378699"/>
              <a:gd name="csX2" fmla="*/ 4313762 w 8683439"/>
              <a:gd name="csY2" fmla="*/ 6378699 h 6378699"/>
              <a:gd name="csX3" fmla="*/ 0 w 8683439"/>
              <a:gd name="csY3" fmla="*/ 2803700 h 6378699"/>
              <a:gd name="csX4" fmla="*/ 0 w 8683439"/>
              <a:gd name="csY4" fmla="*/ 1068128 h 6378699"/>
              <a:gd name="csX5" fmla="*/ 1068128 w 8683439"/>
              <a:gd name="csY5" fmla="*/ 0 h 6378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683439" h="6378699">
                <a:moveTo>
                  <a:pt x="7348838" y="0"/>
                </a:moveTo>
                <a:lnTo>
                  <a:pt x="8683439" y="1106042"/>
                </a:lnTo>
                <a:lnTo>
                  <a:pt x="4313762" y="6378699"/>
                </a:lnTo>
                <a:lnTo>
                  <a:pt x="0" y="2803700"/>
                </a:lnTo>
                <a:lnTo>
                  <a:pt x="0" y="1068128"/>
                </a:lnTo>
                <a:cubicBezTo>
                  <a:pt x="0" y="478217"/>
                  <a:pt x="478217" y="0"/>
                  <a:pt x="1068128" y="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E2DE442-FC1D-AA22-5EFC-A93D236F1CCE}"/>
              </a:ext>
            </a:extLst>
          </p:cNvPr>
          <p:cNvSpPr/>
          <p:nvPr/>
        </p:nvSpPr>
        <p:spPr>
          <a:xfrm>
            <a:off x="7071713" y="1160321"/>
            <a:ext cx="2084601" cy="2134565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79A470-6F71-94DB-3009-7C07221B087F}"/>
              </a:ext>
            </a:extLst>
          </p:cNvPr>
          <p:cNvSpPr/>
          <p:nvPr/>
        </p:nvSpPr>
        <p:spPr>
          <a:xfrm>
            <a:off x="6843530" y="916137"/>
            <a:ext cx="2501291" cy="25587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AAC7144-2DE9-4488-BF8E-D3D4646BF0B9}"/>
              </a:ext>
            </a:extLst>
          </p:cNvPr>
          <p:cNvSpPr/>
          <p:nvPr/>
        </p:nvSpPr>
        <p:spPr>
          <a:xfrm>
            <a:off x="6662385" y="738890"/>
            <a:ext cx="2863579" cy="291327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9C247-528F-5C2F-CC26-D294F5B741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9966820" y="3787353"/>
            <a:ext cx="2265129" cy="242261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1300AF5-FC43-D832-5F7A-32F4F6207957}"/>
              </a:ext>
            </a:extLst>
          </p:cNvPr>
          <p:cNvSpPr/>
          <p:nvPr/>
        </p:nvSpPr>
        <p:spPr>
          <a:xfrm>
            <a:off x="7545879" y="3463689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300213-E117-B514-EA99-5ACF68E52D7E}"/>
              </a:ext>
            </a:extLst>
          </p:cNvPr>
          <p:cNvSpPr/>
          <p:nvPr/>
        </p:nvSpPr>
        <p:spPr>
          <a:xfrm>
            <a:off x="9330094" y="2659392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1C6519-CBA6-0C25-F747-B071D1FC0F8F}"/>
              </a:ext>
            </a:extLst>
          </p:cNvPr>
          <p:cNvSpPr/>
          <p:nvPr/>
        </p:nvSpPr>
        <p:spPr>
          <a:xfrm>
            <a:off x="9141587" y="1208919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FBD098-8B3E-9FF8-11D3-EC389527A6BB}"/>
              </a:ext>
            </a:extLst>
          </p:cNvPr>
          <p:cNvSpPr txBox="1"/>
          <p:nvPr/>
        </p:nvSpPr>
        <p:spPr>
          <a:xfrm>
            <a:off x="9601200" y="350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D289A-766A-620B-85FD-871B699E3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498" y="1795174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9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61394-4E1F-AA26-B0DE-56D8D0BD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79BACD-A723-F695-517C-1BF652483EB0}"/>
              </a:ext>
            </a:extLst>
          </p:cNvPr>
          <p:cNvSpPr/>
          <p:nvPr/>
        </p:nvSpPr>
        <p:spPr>
          <a:xfrm>
            <a:off x="582341" y="310199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020B4938-EF31-7BBD-7143-61B5D09D98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E6EB37C7-DBCC-111A-D709-14331D68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996" y="161886"/>
            <a:ext cx="9259416" cy="1220789"/>
          </a:xfrm>
        </p:spPr>
        <p:txBody>
          <a:bodyPr/>
          <a:lstStyle/>
          <a:p>
            <a:r>
              <a:rPr sz="2400" b="1">
                <a:latin typeface="Times New Roman"/>
              </a:rPr>
              <a:t>RetinaScan AI — Explainable Diabetic Retinopathy Screening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625DE-78BD-9ED8-F536-552D0C7FB2B1}"/>
              </a:ext>
            </a:extLst>
          </p:cNvPr>
          <p:cNvSpPr txBox="1"/>
          <p:nvPr/>
        </p:nvSpPr>
        <p:spPr>
          <a:xfrm>
            <a:off x="304800" y="1398320"/>
            <a:ext cx="8946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>
                <a:latin typeface="Bell MT" panose="02020503060305020303" pitchFamily="18" charset="0"/>
                <a:cs typeface="Times New Roman" panose="02020603050405020304" pitchFamily="18" charset="0"/>
              </a:rPr>
              <a:t>Detailed explanation of the proposed solution:</a:t>
            </a:r>
            <a:endParaRPr lang="en-IN" sz="2400">
              <a:latin typeface="Bell MT" panose="02020503060305020303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t>AI screening app that grades diabetic retinopathy severity from fundus images (5 stages: No DR → Proliferative)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Grad-CAM heatmap overlay shows exactly which retinal region drove the diagnosis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EfficientNet-B0 (PyTorch), fine-tuned on APTOS 2019, for the model; FastAPI backend + browser-based UI for clinicians</a:t>
            </a:r>
            <a:r>
              <a:rPr lang="en-IN" err="1"/>
              <a:t/>
            </a:r>
            <a:r>
              <a:rPr lang="en-IN"/>
              <a:t/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/>
          </a:p>
          <a:p>
            <a:pPr rtl="0">
              <a:buNone/>
            </a:pPr>
            <a:r>
              <a:rPr lang="en-IN" sz="2400" b="1">
                <a:latin typeface="Bell MT" panose="02020503060305020303" pitchFamily="18" charset="0"/>
              </a:rPr>
              <a:t>How it addresses the problem: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t>Deployable locally at a PHC with no per-request cloud dependency (demoed live on Render)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Cuts reliance on scarce ophthalmologists for first-level screening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Visual explanation builds trust instead of a black-box output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/>
          </a:p>
          <a:p>
            <a:pPr rtl="0">
              <a:buNone/>
            </a:pPr>
            <a:r>
              <a:rPr lang="en-IN" sz="2400" b="1">
                <a:latin typeface="Bell MT" panose="02020503060305020303" pitchFamily="18" charset="0"/>
              </a:rPr>
              <a:t>Innovation and uniqueness: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Explainability is core to the workflow, not an add-on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Explainability validated end-to-end — model, Grad-CAM, and web app all tested live on real fundus images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Roadmap: batch-screening mode for camp-style rural outreach (not yet built)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8B20A676-5437-F065-27C2-BFB73D6DD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7223" y="3964446"/>
            <a:ext cx="5186905" cy="2288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66511-69DB-7291-3CDC-C34164EFC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3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E3EE-91E8-C38F-89EE-344D0730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C78EC63-0FEF-CE5B-B057-7D82DA747266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441E1CF-27EF-98A1-C161-B8404181BE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A115F6B4-F363-DC56-0E84-3D34FD7C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996" y="154222"/>
            <a:ext cx="9259416" cy="1220789"/>
          </a:xfrm>
        </p:spPr>
        <p:txBody>
          <a:bodyPr/>
          <a:lstStyle/>
          <a:p>
            <a:r>
              <a:rPr lang="en-US" sz="2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943C23-1BD2-3379-5A8C-7334E1BB3DF8}"/>
              </a:ext>
            </a:extLst>
          </p:cNvPr>
          <p:cNvSpPr txBox="1"/>
          <p:nvPr/>
        </p:nvSpPr>
        <p:spPr>
          <a:xfrm>
            <a:off x="162917" y="1504782"/>
            <a:ext cx="4540968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marL="228600" indent="-228600">
              <a:buFont typeface="Arial"/>
              <a:buChar char="•"/>
              <a:spcAft>
                <a:spcPts val="1200"/>
              </a:spcAft>
            </a:pPr>
            <a:r>
              <a:rPr lang="en-IN" sz="1400" b="1"/>
              <a:t>Model:</a:t>
            </a:r>
            <a:r>
              <a:rPr lang="en-IN" sz="1400"/>
              <a:t> EfficientNet-B0, ImageNet-pretrained, fine-tuned for 5-class DR grading</a:t>
            </a:r>
          </a:p>
          <a:p>
            <a:pPr lvl="0" marL="228600" indent="-228600">
              <a:buFont typeface="Arial"/>
              <a:buChar char="•"/>
              <a:spcAft>
                <a:spcPts val="1200"/>
              </a:spcAft>
            </a:pPr>
            <a:r>
              <a:rPr lang="en-IN" sz="1400" b="1"/>
              <a:t>Explainability:</a:t>
            </a:r>
            <a:r>
              <a:rPr lang="en-IN" sz="1400"/>
              <a:t> Grad-CAM on the final conv block generates lesion-localizing heatmaps</a:t>
            </a:r>
          </a:p>
          <a:p>
            <a:pPr lvl="0" marL="228600" indent="-228600">
              <a:buFont typeface="Arial"/>
              <a:buChar char="•"/>
              <a:spcAft>
                <a:spcPts val="1200"/>
              </a:spcAft>
            </a:pPr>
            <a:r>
              <a:rPr lang="en-IN" sz="1400" b="1"/>
              <a:t>Preprocessing:</a:t>
            </a:r>
            <a:r>
              <a:rPr lang="en-IN" sz="1400"/>
              <a:t> CLAHE + crop + resize to 224×224 normalizes lighting/contrast across cameras</a:t>
            </a:r>
          </a:p>
          <a:p>
            <a:pPr lvl="0" marL="228600" indent="-228600">
              <a:buFont typeface="Arial"/>
              <a:buChar char="•"/>
              <a:spcAft>
                <a:spcPts val="1200"/>
              </a:spcAft>
            </a:pPr>
            <a:r>
              <a:rPr lang="en-IN" sz="1400" b="1"/>
              <a:t>Backend:</a:t>
            </a:r>
            <a:r>
              <a:rPr lang="en-IN" sz="1400"/>
              <a:t> FastAPI /predict returns grade, confidence &amp; heatmap as JSON; model stays loaded in memory</a:t>
            </a:r>
          </a:p>
          <a:p>
            <a:pPr lvl="0" marL="228600" indent="-228600">
              <a:buFont typeface="Arial"/>
              <a:buChar char="•"/>
              <a:spcAft>
                <a:spcPts val="1200"/>
              </a:spcAft>
            </a:pPr>
            <a:r>
              <a:rPr lang="en-IN" sz="1400" b="1"/>
              <a:t>Frontend:</a:t>
            </a:r>
            <a:r>
              <a:rPr lang="en-IN" sz="1400"/>
              <a:t> Single-file HTML/JS — no build step, runs in any browser</a:t>
            </a:r>
          </a:p>
          <a:p>
            <a:pPr lvl="0" marL="228600" indent="-228600">
              <a:buFont typeface="Arial"/>
              <a:buChar char="•"/>
              <a:spcAft>
                <a:spcPts val="1200"/>
              </a:spcAft>
            </a:pPr>
            <a:r>
              <a:rPr lang="en-IN" sz="1400" b="1"/>
              <a:t>Class-imbalance handling:</a:t>
            </a:r>
            <a:r>
              <a:rPr lang="en-IN" sz="1400"/>
              <a:t> Weighted cross-entropy loss corrects APTOS's skew toward "No DR"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E1D1FF-0706-497D-BB82-D470B4C5049C}"/>
              </a:ext>
            </a:extLst>
          </p:cNvPr>
          <p:cNvSpPr txBox="1"/>
          <p:nvPr/>
        </p:nvSpPr>
        <p:spPr>
          <a:xfrm>
            <a:off x="6949440" y="1325880"/>
            <a:ext cx="3004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rgbClr val="1F497D"/>
                </a:solidFill>
                <a:latin typeface="Arial" panose="02020503060305020303" pitchFamily="18" charset="0"/>
              </a:rPr>
              <a:t>Pipeline</a:t>
            </a:r>
            <a:endParaRPr lang="en-IN" sz="2400">
              <a:latin typeface="Bell MT" panose="020205030603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0D0099-7BE6-5418-9B08-2D2D84B1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  <p:pic>
        <p:nvPicPr>
          <p:cNvPr id="20" name="Picture 19" descr="new_pipelin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874519"/>
            <a:ext cx="3004246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3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B9C7-FF4A-CC6B-8D36-E5763B27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DCFE50-E939-260D-99A8-487AFDE1910F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7CC0CCC4-41EA-D3A6-BE8B-68B6515505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10A1367C-4AA3-ECFA-C87C-1FDF979B8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14C2A-F7B3-83DE-A637-F8ACFE7D2C9F}"/>
              </a:ext>
            </a:extLst>
          </p:cNvPr>
          <p:cNvSpPr txBox="1"/>
          <p:nvPr/>
        </p:nvSpPr>
        <p:spPr>
          <a:xfrm>
            <a:off x="243190" y="1611603"/>
            <a:ext cx="6614809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en-IN" sz="2400" b="1" i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Feasibility:</a:t>
            </a:r>
            <a:endParaRPr lang="en-IN" sz="24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Proven tech (CNN + Grad-CAM), public dataset ready, mature PyTorch/OpenCV ecosystem speeds up build, low-hardware web deployment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indent="0" algn="l" rtl="0">
              <a:lnSpc>
                <a:spcPct val="100000"/>
              </a:lnSpc>
              <a:buNone/>
            </a:pPr>
            <a:r>
              <a:rPr lang="en-IN" sz="2400" b="1" i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Challenges and risks:</a:t>
            </a:r>
            <a:endParaRPr lang="en-IN" sz="24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Class imbalance (mostly "No DR" images)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Real-world image quality varies from clean training data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Heatmaps can look right but be clinically wrong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False negatives on severe cases are dangerous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800" b="0" i="0">
              <a:solidFill>
                <a:schemeClr val="tx1"/>
              </a:solidFill>
              <a:effectLst/>
              <a:latin typeface="Calibri" pitchFamily="34" charset="0"/>
            </a:endParaRPr>
          </a:p>
          <a:p>
            <a:pPr marL="0" marR="0" indent="0" algn="l" rtl="0">
              <a:lnSpc>
                <a:spcPct val="100000"/>
              </a:lnSpc>
              <a:buNone/>
            </a:pPr>
            <a:r>
              <a:rPr lang="en-IN" sz="2400" b="1" i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Strategies: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Weighted loss for imbalance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 err="1">
                <a:solidFill>
                  <a:schemeClr val="tx1"/>
                </a:solidFill>
                <a:effectLst/>
                <a:latin typeface="Calibri" pitchFamily="34" charset="0"/>
              </a:rPr>
              <a:t>CLAHE</a:t>
            </a: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 preprocessing for image variation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Validate Grad-CAM against annotated lesion data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Tune for high recall on severe cases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Position as screening/referral aid, not final diagnosis</a:t>
            </a:r>
          </a:p>
          <a:p>
            <a:pPr>
              <a:buNone/>
            </a:pPr>
            <a:br>
              <a:rPr lang="en-IN"/>
            </a:br>
            <a:endParaRPr lang="en-IN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41AC7-0122-EDE7-971A-0897D64EE1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4339" y="1504782"/>
            <a:ext cx="5294279" cy="24769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F8AE0D1-E79B-D40A-785F-34CC4FB8D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389" y="4241228"/>
            <a:ext cx="4376089" cy="1969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9ABAF-5DB4-C921-4F6D-7D4EF8F97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104656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41F5-3D87-15F7-12F7-75118849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D26561-E5F9-AB21-18E2-F05F624553BE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8002A2B1-11F8-C6D6-99CF-238D884507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CACA4A13-2386-20C2-A2E7-6BA564B5F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A5369-741E-B13C-3D01-5ED25DDF7D65}"/>
              </a:ext>
            </a:extLst>
          </p:cNvPr>
          <p:cNvSpPr txBox="1"/>
          <p:nvPr/>
        </p:nvSpPr>
        <p:spPr>
          <a:xfrm>
            <a:off x="243190" y="1246862"/>
            <a:ext cx="712619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300" b="1">
                <a:latin typeface="Bell MT" panose="02020503060305020303" pitchFamily="18" charset="0"/>
              </a:rPr>
              <a:t>Potential impact on the target audience: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Rural/PHC patients get early DR screening without traveling to a specialist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Health workers get a trustworthy, explainable second opinion, not a black box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Enables earlier referral before vision loss becomes irreversible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Reduces the burden on India's limited pool of ophthalmologists for first-level screening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Builds patient trust and follow-up compliance since they can see the visual reasoning, not just a verdict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/>
          </a:p>
          <a:p>
            <a:pPr rtl="0">
              <a:buNone/>
            </a:pPr>
            <a:r>
              <a:rPr lang="en-IN" sz="1300" b="1">
                <a:latin typeface="Bell MT" panose="02020503060305020303" pitchFamily="18" charset="0"/>
              </a:rPr>
              <a:t>Benefits of the solution: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Social:</a:t>
            </a:r>
            <a:r>
              <a:rPr lang="en-IN"/>
              <a:t> wider access to eye care, fewer preventable blindness cases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Economic:</a:t>
            </a:r>
            <a:r>
              <a:rPr lang="en-IN"/>
              <a:t> less specialist dependency, avoids costlier late-stage treatment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Operational:</a:t>
            </a:r>
            <a:r>
              <a:rPr lang="en-IN"/>
              <a:t> deployable locally at a PHC with no per-request cloud dependency (demoed here on Render)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Scalability:</a:t>
            </a:r>
            <a:r>
              <a:rPr lang="en-IN"/>
              <a:t> low-cost to replicate across many PHCs — no per-patient licensing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Sustainability:</a:t>
            </a:r>
            <a:r>
              <a:rPr lang="en-IN"/>
              <a:t> low-hardware requirement keeps running cost near zero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7CDFE-3D26-4286-67FD-3F4AA3749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32" y="1491150"/>
            <a:ext cx="4820594" cy="141782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F1B5352-450E-396B-4825-0EB81E756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0003" y="2786340"/>
            <a:ext cx="6477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03E21-C792-1363-2E79-10233DBDB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71160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9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A1EF-0328-A25E-4125-E7738013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D271CB4-B8EE-5529-EB26-6DA67CDA31CB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3EF2B392-8AB6-AEBC-0FA0-E73B7E094A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41FA76C5-20E9-A93F-2A49-6162D0F5B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2BFAB-3705-D7E7-D012-0144FF28A33D}"/>
              </a:ext>
            </a:extLst>
          </p:cNvPr>
          <p:cNvSpPr txBox="1"/>
          <p:nvPr/>
        </p:nvSpPr>
        <p:spPr>
          <a:xfrm>
            <a:off x="425062" y="1409825"/>
            <a:ext cx="10027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>
                <a:effectLst/>
                <a:latin typeface="Bell MT" panose="02020503060305020303" pitchFamily="18" charset="0"/>
              </a:rPr>
              <a:t>References: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A0765E-4A03-36DB-7CC7-8BB4CEAC8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89" y="1589818"/>
            <a:ext cx="8982358" cy="44911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5A9DB6-6FEE-0539-AB6D-0E5F53D4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7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</a:spPr>
      <a:bodyPr wrap="square" rtlCol="0" anchor="ctr">
        <a:noAutofit/>
      </a:bodyPr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7995</TotalTime>
  <Words>608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Bell MT</vt:lpstr>
      <vt:lpstr>Calibri</vt:lpstr>
      <vt:lpstr>Garamond</vt:lpstr>
      <vt:lpstr>Times New Roman</vt:lpstr>
      <vt:lpstr>TradeGothic</vt:lpstr>
      <vt:lpstr>Office Theme</vt:lpstr>
      <vt:lpstr>SMART INDIA HACKATHON 2026</vt:lpstr>
      <vt:lpstr>RetinaScan AI — Explainable, Offline Diabetic Retinopathy Screening</vt:lpstr>
      <vt:lpstr>TECHNICAL APPROACH</vt:lpstr>
      <vt:lpstr>FEASIBILITY AND VIABILITY</vt:lpstr>
      <vt:lpstr>IMPACT AND BENEFITS</vt:lpstr>
      <vt:lpstr>IMPACT AND BENEFITS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Tushar Koli</cp:lastModifiedBy>
  <cp:revision>149</cp:revision>
  <dcterms:created xsi:type="dcterms:W3CDTF">2013-12-12T18:46:50Z</dcterms:created>
  <dcterms:modified xsi:type="dcterms:W3CDTF">2026-09-09T11:19:44Z</dcterms:modified>
  <cp:category/>
</cp:coreProperties>
</file>